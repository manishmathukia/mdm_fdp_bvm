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ghOvm2EZ50R9dUsIjQzxxGQymf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DA409A-753F-43E9-88D9-1875949E996A}">
  <a:tblStyle styleId="{72DA409A-753F-43E9-88D9-1875949E996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648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894255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" name="Google Shape;9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0" name="Google Shape;11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" name="Google Shape;1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8" name="Google Shape;15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4" name="Google Shape;16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2" name="Google Shape;18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601"/>
            <a:ext cx="103632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800600"/>
            <a:ext cx="9144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2001499" y="4846320"/>
            <a:ext cx="190501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2001499" y="0"/>
            <a:ext cx="190501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1"/>
            <a:ext cx="103632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28601"/>
            <a:ext cx="103632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74240" y="1574800"/>
            <a:ext cx="438912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6880" y="1574800"/>
            <a:ext cx="438912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70176" y="1572768"/>
            <a:ext cx="438912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70176" y="2259366"/>
            <a:ext cx="438912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90944" y="1572768"/>
            <a:ext cx="438912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90944" y="2259366"/>
            <a:ext cx="438912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0"/>
            <a:ext cx="6815667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600200"/>
            <a:ext cx="4011084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2001499" y="4846320"/>
            <a:ext cx="190501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12001169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5715000"/>
            <a:ext cx="108712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4953000"/>
            <a:ext cx="108712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2001499" y="0"/>
            <a:ext cx="190501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718"/>
            <a:ext cx="77216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52601"/>
            <a:ext cx="1016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172201"/>
            <a:ext cx="4572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492876"/>
            <a:ext cx="4572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11189124" y="5824644"/>
            <a:ext cx="131572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001499" y="0"/>
            <a:ext cx="190501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001499" y="1371600"/>
            <a:ext cx="190501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nishmathukia/MDM_FDP_BV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>
            <a:spLocks noGrp="1"/>
          </p:cNvSpPr>
          <p:nvPr>
            <p:ph type="title"/>
          </p:nvPr>
        </p:nvSpPr>
        <p:spPr>
          <a:xfrm>
            <a:off x="767408" y="3140968"/>
            <a:ext cx="10212916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>
              <a:lnSpc>
                <a:spcPct val="90000"/>
              </a:lnSpc>
              <a:spcBef>
                <a:spcPts val="0"/>
              </a:spcBef>
              <a:buSzPts val="6000"/>
            </a:pPr>
            <a:r>
              <a:rPr lang="en-US" sz="4400" b="1" dirty="0"/>
              <a:t>IBM University Engagement Project </a:t>
            </a:r>
            <a:r>
              <a:rPr lang="en-US" sz="4400" b="1" dirty="0" smtClean="0"/>
              <a:t>Submission</a:t>
            </a:r>
            <a:br>
              <a:rPr lang="en-US" sz="4400" b="1" dirty="0" smtClean="0"/>
            </a:b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Shopping Agent</a:t>
            </a:r>
            <a:r>
              <a:rPr lang="en-US" sz="4400" b="1" dirty="0" smtClean="0"/>
              <a:t/>
            </a:r>
            <a:br>
              <a:rPr lang="en-US" sz="4400" b="1" dirty="0" smtClean="0"/>
            </a:br>
            <a:endParaRPr sz="4400" dirty="0"/>
          </a:p>
        </p:txBody>
      </p:sp>
      <p:sp>
        <p:nvSpPr>
          <p:cNvPr id="79" name="Google Shape;79;p33"/>
          <p:cNvSpPr txBox="1">
            <a:spLocks noGrp="1"/>
          </p:cNvSpPr>
          <p:nvPr>
            <p:ph type="body" idx="1"/>
          </p:nvPr>
        </p:nvSpPr>
        <p:spPr>
          <a:xfrm>
            <a:off x="983432" y="5013176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b="1" i="1" dirty="0"/>
              <a:t>“Exploring the Power of </a:t>
            </a:r>
            <a:r>
              <a:rPr lang="en-US" b="1" i="1" dirty="0" err="1"/>
              <a:t>Agentic</a:t>
            </a:r>
            <a:r>
              <a:rPr lang="en-US" b="1" i="1" dirty="0"/>
              <a:t> AI with IBM Granite and </a:t>
            </a:r>
            <a:r>
              <a:rPr lang="en-US" b="1" i="1" dirty="0" err="1"/>
              <a:t>LangFlow</a:t>
            </a:r>
            <a:r>
              <a:rPr lang="en-US" b="1" i="1" dirty="0" smtClean="0"/>
              <a:t>”</a:t>
            </a:r>
          </a:p>
          <a:p>
            <a: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b="1" cap="none" dirty="0" err="1" smtClean="0"/>
              <a:t>Manishkumar</a:t>
            </a:r>
            <a:r>
              <a:rPr lang="en-US" b="1" cap="none" dirty="0" smtClean="0"/>
              <a:t> </a:t>
            </a:r>
            <a:r>
              <a:rPr lang="en-US" b="1" cap="none" dirty="0" err="1" smtClean="0"/>
              <a:t>Mathukia</a:t>
            </a:r>
            <a:r>
              <a:rPr lang="en-US" b="1" cap="none" dirty="0" smtClean="0"/>
              <a:t> (Government Polytechnic, </a:t>
            </a:r>
            <a:r>
              <a:rPr lang="en-US" b="1" cap="none" dirty="0" err="1" smtClean="0"/>
              <a:t>Junagadh</a:t>
            </a:r>
            <a:r>
              <a:rPr lang="en-US" b="1" cap="none" dirty="0" smtClean="0"/>
              <a:t>)</a:t>
            </a:r>
            <a:endParaRPr lang="en-US" cap="non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2"/>
          <p:cNvGraphicFramePr/>
          <p:nvPr>
            <p:extLst>
              <p:ext uri="{D42A27DB-BD31-4B8C-83A1-F6EECF244321}">
                <p14:modId xmlns:p14="http://schemas.microsoft.com/office/powerpoint/2010/main" val="2014425517"/>
              </p:ext>
            </p:extLst>
          </p:nvPr>
        </p:nvGraphicFramePr>
        <p:xfrm>
          <a:off x="1299257" y="2600315"/>
          <a:ext cx="9395000" cy="2728013"/>
        </p:xfrm>
        <a:graphic>
          <a:graphicData uri="http://schemas.openxmlformats.org/drawingml/2006/table">
            <a:tbl>
              <a:tblPr>
                <a:noFill/>
                <a:tableStyleId>{72DA409A-753F-43E9-88D9-1875949E996A}</a:tableStyleId>
              </a:tblPr>
              <a:tblGrid>
                <a:gridCol w="2064875"/>
                <a:gridCol w="2443375"/>
                <a:gridCol w="2443375"/>
                <a:gridCol w="2443375"/>
              </a:tblGrid>
              <a:tr h="68466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Faculty </a:t>
                      </a: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Recent Passport Photo</a:t>
                      </a:r>
                      <a:endParaRPr sz="1800" u="none" strike="noStrike" cap="non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</a:tr>
              <a:tr h="204334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800" b="1" u="none" strike="noStrike" cap="none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Manishkumar</a:t>
                      </a:r>
                      <a:r>
                        <a:rPr lang="en-IN" sz="1800" b="1" u="none" strike="noStrike" cap="none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800" b="1" u="none" strike="noStrike" cap="none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</a:t>
                      </a:r>
                      <a:r>
                        <a:rPr lang="en-IN" sz="1800" b="1" u="none" strike="noStrike" cap="none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Mathukia</a:t>
                      </a:r>
                      <a:endParaRPr sz="1800" b="1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800" b="1" u="none" strike="noStrike" cap="none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manishmathukia1990@gmail.com</a:t>
                      </a:r>
                      <a:endParaRPr sz="1800" b="1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000" b="1" u="none" strike="noStrike" cap="none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99989 46136</a:t>
                      </a:r>
                      <a:endParaRPr sz="2000" b="1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id="88" name="Google Shape;88;p2"/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of  Project – </a:t>
            </a:r>
            <a:r>
              <a:rPr lang="en-IN" sz="2400" dirty="0"/>
              <a:t>E-commerce / Retail Intelligence</a:t>
            </a:r>
            <a:endParaRPr sz="2400" b="1" i="1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1271464" y="551965"/>
            <a:ext cx="950505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Tile – </a:t>
            </a:r>
            <a:r>
              <a:rPr lang="en-US" sz="2400" b="1" i="1" dirty="0"/>
              <a:t>Intelligent Shopping Agent</a:t>
            </a:r>
            <a:endParaRPr sz="2400" b="1" i="1" u="none" strike="noStrike" cap="none" dirty="0">
              <a:solidFill>
                <a:srgbClr val="000000"/>
              </a:solidFill>
              <a:highlight>
                <a:srgbClr val="FFFF00"/>
              </a:highlight>
              <a:sym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744" y="3356992"/>
            <a:ext cx="1371600" cy="1885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4"/>
          <p:cNvSpPr txBox="1"/>
          <p:nvPr/>
        </p:nvSpPr>
        <p:spPr>
          <a:xfrm>
            <a:off x="576072" y="1124744"/>
            <a:ext cx="10607040" cy="5601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No.11: Intelligent Shopping Agent 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Shoppers today face an overload of product options, scattered reviews, and dynamic pricing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across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platforms. Finding the right product that balances price, quality, and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preferences is time-consuming and frustrating. Traditional recommendation systems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often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 to capture real-time trends, personalized needs, or contextual factors like urgency,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sustainability. The challenge is not just to recommend products but to act as a smart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companion that helps buyers make informed and confident decisions.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shopping assistant that provides intelligent, personalized, and real-time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solution should: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Fuse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Multisource Data: Aggregate product details, reviews, ratings, and price comparisons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across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e-commerce sites into unified insights.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Search: Allow users to input voice queries, images (e.g., a photo of a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or text descriptions to find best-matching products.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Predictive &amp;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Layer: Suggest purchase timing (e.g., discounts, seasonal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offers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recommend alternatives, and alert users about price drops or fake reviews.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Shopping Pulse: Provide a dashboard summarizing comparisons,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scores, trending products, and personalized shopping lists.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Google Shape;95;p34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-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5"/>
          <p:cNvSpPr txBox="1"/>
          <p:nvPr/>
        </p:nvSpPr>
        <p:spPr>
          <a:xfrm>
            <a:off x="667497" y="1165750"/>
            <a:ext cx="12919800" cy="4832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Tech </a:t>
            </a:r>
            <a:r>
              <a:rPr lang="en-US" sz="36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Stack (Mandatory)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 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Use </a:t>
            </a:r>
            <a:r>
              <a:rPr lang="en-US" sz="36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any one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 of the following approaches: 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marR="0" lvl="0" indent="-425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lang="en-US" sz="32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LangFlow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 + IBM watsonx.ai + Granite Models 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marR="0" lvl="0" indent="-425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IBM Cloud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Agentic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Lab with IBM Granite Models 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marR="0" lvl="0" indent="-425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Replicate with 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LangChain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 + RAG + IBM Granite Models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lvl="0"/>
            <a:r>
              <a:rPr lang="en-US" sz="3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+ IBM watsonx.ai + Granite Models</a:t>
            </a:r>
            <a:endParaRPr sz="14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5"/>
          <p:cNvSpPr txBox="1"/>
          <p:nvPr/>
        </p:nvSpPr>
        <p:spPr>
          <a:xfrm>
            <a:off x="667497" y="411720"/>
            <a:ext cx="721461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 </a:t>
            </a:r>
            <a:endParaRPr sz="3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6"/>
          <p:cNvSpPr txBox="1"/>
          <p:nvPr/>
        </p:nvSpPr>
        <p:spPr>
          <a:xfrm>
            <a:off x="576072" y="1124744"/>
            <a:ext cx="11208560" cy="56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Agentic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AI-Powered Smart Shopping Assistant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Smart Shopping Assistant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IBM watsonx.ai with Granite-4-H-Small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intelligent product comparison, review analysis, and purchase decision support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Agentic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user needs (budget, urgency, preferences) and deliver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data-driven, consumer-protective recommendations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Capabilities:</a:t>
            </a:r>
          </a:p>
          <a:p>
            <a:pPr marL="6350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Multi-platform comparison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products using specs, price, and features </a:t>
            </a:r>
          </a:p>
          <a:p>
            <a:pPr marL="6350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analysis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fake or biased reviews and compute trust score </a:t>
            </a:r>
          </a:p>
          <a:p>
            <a:pPr marL="6350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Value-for-money scoring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optimized product selection </a:t>
            </a:r>
          </a:p>
          <a:p>
            <a:pPr marL="6350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Wait prediction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market trends </a:t>
            </a:r>
          </a:p>
          <a:p>
            <a:pPr marL="6350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alternatives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better options exist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10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delivers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transparent, structured, and intelligent shopping experience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help users make better purchasing decisions.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7" name="Google Shape;107;p36"/>
          <p:cNvSpPr txBox="1"/>
          <p:nvPr/>
        </p:nvSpPr>
        <p:spPr>
          <a:xfrm>
            <a:off x="576072" y="447055"/>
            <a:ext cx="72146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 -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7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Langflow</a:t>
            </a: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component Used -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7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37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37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37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37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37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37"/>
          <p:cNvSpPr txBox="1"/>
          <p:nvPr/>
        </p:nvSpPr>
        <p:spPr>
          <a:xfrm>
            <a:off x="437518" y="1196752"/>
            <a:ext cx="10589730" cy="5478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 algn="just">
              <a:buFont typeface="+mj-lt"/>
              <a:buAutoNum type="arabicParenR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Input →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where users enter their product query, preferences, budget, urgency, or shopping requirements for analysis and comparison.</a:t>
            </a:r>
          </a:p>
          <a:p>
            <a:pPr marL="457200" indent="-457200" algn="just">
              <a:buFont typeface="+mj-lt"/>
              <a:buAutoNum type="arabicParenR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watsonx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Agent →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user inputs using Granite models to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 details, compare options, evaluate reviews, and provide intelligent shopping recommendations.</a:t>
            </a:r>
          </a:p>
          <a:p>
            <a:pPr marL="457200" indent="-457200" algn="just">
              <a:buFont typeface="+mj-lt"/>
              <a:buAutoNum type="arabicParenR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IBM Granite Model → Granite-4.0-H-Small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Fast and efficient for real-time product analysis, reasoning, review understanding, and smart purchase decision support.</a:t>
            </a:r>
          </a:p>
          <a:p>
            <a:pPr marL="457200" indent="-457200" algn="just">
              <a:buFont typeface="+mj-lt"/>
              <a:buAutoNum type="arabicParenR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Output →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AI-generated responses such as product comparisons, value-for-money scores, buying recommendations (buy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wait), and better alternative suggestions.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8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Langflow</a:t>
            </a: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workflow -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1196752"/>
            <a:ext cx="11605584" cy="504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0" y="771747"/>
            <a:ext cx="10742986" cy="58582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76320" y="2336828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9"/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of Agentic AI in the solution </a:t>
            </a: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 txBox="1"/>
          <p:nvPr/>
        </p:nvSpPr>
        <p:spPr>
          <a:xfrm>
            <a:off x="621792" y="1167493"/>
            <a:ext cx="8210512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Agentic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in Smart Shopping &amp; Retail Intelligence Agent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enables the system to act as an intelligent shopping assistant that understands user needs and provides data-driven product recommendations. Powered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watsonx.ai and Granite-4.0-H-Small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analyzes products, compares options, evaluates review trustworthiness, and delivers value-for-money insights.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supports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wait predictions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suggests better alternatives, making the system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smart, transparent, and consumer-focused decision support agent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9"/>
          <p:cNvSpPr txBox="1"/>
          <p:nvPr/>
        </p:nvSpPr>
        <p:spPr>
          <a:xfrm>
            <a:off x="777240" y="484632"/>
            <a:ext cx="712317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</a:t>
            </a:r>
            <a:endParaRPr sz="3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9"/>
          <p:cNvSpPr txBox="1"/>
          <p:nvPr/>
        </p:nvSpPr>
        <p:spPr>
          <a:xfrm>
            <a:off x="777240" y="1207008"/>
            <a:ext cx="10791368" cy="529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Used for designing and orchestrating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agentic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workflows visually, enabling seamless coordination between product analysis, review evaluation, comparison, and smart shopping decision-making agents.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Granite Model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Granite-4.0-H-Small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natural language understanding, product reasoning, review analysis, and generating personalized shopping recommendations and insights.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Cloud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Provides a secure, scalable, and reliable infrastructure to deploy and manage the Smart Shopping Agent, ensuring high performance and availability for real-time user queries.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watsonx.ai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Used for model deployment, prompt management, AI governance, and enabling responsible AI capabilities such as safe, transparent, and controlled product recommendation outputs.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0"/>
          <p:cNvSpPr/>
          <p:nvPr/>
        </p:nvSpPr>
        <p:spPr>
          <a:xfrm>
            <a:off x="793192" y="60687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 Usage 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0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40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40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1"/>
          <a:stretch/>
        </p:blipFill>
        <p:spPr>
          <a:xfrm>
            <a:off x="518139" y="764704"/>
            <a:ext cx="10993239" cy="590465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47728" y="4821664"/>
            <a:ext cx="1872208" cy="6090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0"/>
          <p:cNvSpPr/>
          <p:nvPr/>
        </p:nvSpPr>
        <p:spPr>
          <a:xfrm>
            <a:off x="793192" y="60687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Working interface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0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40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40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40" y="620688"/>
            <a:ext cx="8928992" cy="597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167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Novelty and Uniqueness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1"/>
          <p:cNvSpPr txBox="1"/>
          <p:nvPr/>
        </p:nvSpPr>
        <p:spPr>
          <a:xfrm>
            <a:off x="777240" y="980728"/>
            <a:ext cx="11079400" cy="575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Differentiators of the Smart Shopping &amp; Retail Intelligence Agent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Smart Shopping Agent combines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Agentic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AI, data intelligence, and consumer protection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 single decision-support system.</a:t>
            </a:r>
          </a:p>
          <a:p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Agentic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Approach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Uses an intelligent agent instead of a simple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structured, context-aware shopping decisions.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Product Analysis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Powered by IBM Granite to compare products, analyze specs, and evaluate features.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Trust Detection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Identifies fake or biased reviews and improves recommendation reliability.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Value-for-Money Scoring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Calculates product worth based on price, quality, and user needs.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Shopping Insights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Suggests buy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wait decisions and recommends better alternatives.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IBM-Driven Architecture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Built using watsonx.ai with governance for safe and transparent AI outputs.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the solution a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smart, analytical, and consumer-protective shopping assistant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2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Hub Link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2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42"/>
          <p:cNvSpPr/>
          <p:nvPr/>
        </p:nvSpPr>
        <p:spPr>
          <a:xfrm>
            <a:off x="1218724" y="1412776"/>
            <a:ext cx="9773820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80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</a:t>
            </a:r>
            <a:r>
              <a:rPr lang="en-US" sz="2800" b="1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github.com/manishmathukia/MDM_FDP_BVM</a:t>
            </a:r>
            <a:endParaRPr lang="en-US" sz="2800" b="1" dirty="0" smtClean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sz="2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42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42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3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Scope 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3"/>
          <p:cNvSpPr/>
          <p:nvPr/>
        </p:nvSpPr>
        <p:spPr>
          <a:xfrm>
            <a:off x="1218724" y="1221715"/>
            <a:ext cx="9413780" cy="530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Multi-Platform Product Intelligence Enhancement –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enhanced to integrate multiple e-commerce platforms (Amazon,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Flipkart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brand websites) for deeper product comparison. This will improve accuracy in pricing trends, specifications matching, and overall decision-making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Trend &amp; Price Prediction Enhancement –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can be extended with predictive analytics to forecast price drops, seasonal sales, and upcoming product releases. This will help users make smarter “buy now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wait” decisions and maximize value for money.</a:t>
            </a:r>
          </a:p>
        </p:txBody>
      </p:sp>
      <p:sp>
        <p:nvSpPr>
          <p:cNvPr id="177" name="Google Shape;177;p43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43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62</TotalTime>
  <Words>824</Words>
  <Application>Microsoft Office PowerPoint</Application>
  <PresentationFormat>Custom</PresentationFormat>
  <Paragraphs>89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Essential</vt:lpstr>
      <vt:lpstr>IBM University Engagement Project Submission  Intelligent Shopping Agent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University Engagement Project Submission </dc:title>
  <dc:creator>Manda Anirudh</dc:creator>
  <cp:lastModifiedBy>GPJ</cp:lastModifiedBy>
  <cp:revision>26</cp:revision>
  <dcterms:created xsi:type="dcterms:W3CDTF">2025-07-08T05:06:56Z</dcterms:created>
  <dcterms:modified xsi:type="dcterms:W3CDTF">2026-06-10T21:11:37Z</dcterms:modified>
</cp:coreProperties>
</file>